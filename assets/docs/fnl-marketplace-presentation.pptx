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59" r:id="rId6"/>
    <p:sldId id="269" r:id="rId7"/>
    <p:sldId id="265" r:id="rId8"/>
    <p:sldId id="260" r:id="rId9"/>
    <p:sldId id="267" r:id="rId10"/>
    <p:sldId id="268" r:id="rId11"/>
    <p:sldId id="266" r:id="rId12"/>
    <p:sldId id="261" r:id="rId13"/>
    <p:sldId id="262" r:id="rId14"/>
    <p:sldId id="263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675"/>
    <a:srgbClr val="006F08"/>
    <a:srgbClr val="3CFF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03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7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file:////Users/ivandemidov18/Library/Group%20Containers/UBF8T346G9.ms/WebArchiveCopyPasteTempFiles/com.microsoft.Word/content%3fid=file_000000001560720aacfd900f88effa3f&amp;ts=492615&amp;p=fs&amp;cid=1&amp;sig=baec876095d3cbd9237bdb96a6048b842de0d373902dacbf3c128388b3716b02&amp;v=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03792B5-4277-7A07-2BEE-AE38CA6D066E}"/>
              </a:ext>
            </a:extLst>
          </p:cNvPr>
          <p:cNvSpPr/>
          <p:nvPr/>
        </p:nvSpPr>
        <p:spPr>
          <a:xfrm>
            <a:off x="164592" y="-1"/>
            <a:ext cx="8979408" cy="5143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6583680" y="-859536"/>
            <a:ext cx="4114800" cy="4114800"/>
          </a:xfrm>
          <a:prstGeom prst="ellipse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Shape 2"/>
          <p:cNvSpPr/>
          <p:nvPr/>
        </p:nvSpPr>
        <p:spPr>
          <a:xfrm>
            <a:off x="7223760" y="-731520"/>
            <a:ext cx="2743200" cy="2743200"/>
          </a:xfrm>
          <a:prstGeom prst="ellipse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" name="Shape 3"/>
          <p:cNvSpPr/>
          <p:nvPr/>
        </p:nvSpPr>
        <p:spPr>
          <a:xfrm>
            <a:off x="7763256" y="3204972"/>
            <a:ext cx="457200" cy="457200"/>
          </a:xfrm>
          <a:prstGeom prst="ellipse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8412480" y="3840480"/>
            <a:ext cx="228600" cy="228600"/>
          </a:xfrm>
          <a:prstGeom prst="ellipse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Маркетплейс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ФНЛ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 flipV="1">
            <a:off x="411480" y="2976537"/>
            <a:ext cx="5707966" cy="57443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030" name="Picture 6" descr="fnl-active logo">
            <a:extLst>
              <a:ext uri="{FF2B5EF4-FFF2-40B4-BE49-F238E27FC236}">
                <a16:creationId xmlns:a16="http://schemas.microsoft.com/office/drawing/2014/main" id="{629900AA-1614-6F29-3DB6-6F1DFF2EE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560" y="185166"/>
            <a:ext cx="1037759" cy="141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B3F20F-F823-CDFC-9F4C-C4BDAC955E1F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782D14-0CB0-23D0-502C-1EFC23E708D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7EB47F-1A6B-E737-375A-9C2C99BDCAD1}"/>
              </a:ext>
            </a:extLst>
          </p:cNvPr>
          <p:cNvSpPr/>
          <p:nvPr/>
        </p:nvSpPr>
        <p:spPr>
          <a:xfrm>
            <a:off x="345643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ПОЧЕМУ НУЖЕН МАРКЕТПЛЕЙС?</a:t>
            </a:r>
            <a:endParaRPr lang="en-US" sz="2000" dirty="0"/>
          </a:p>
        </p:txBody>
      </p:sp>
      <p:sp>
        <p:nvSpPr>
          <p:cNvPr id="5" name="Text 46">
            <a:extLst>
              <a:ext uri="{FF2B5EF4-FFF2-40B4-BE49-F238E27FC236}">
                <a16:creationId xmlns:a16="http://schemas.microsoft.com/office/drawing/2014/main" id="{787C5B27-16C4-6D11-E0E7-26E979DCB8C1}"/>
              </a:ext>
            </a:extLst>
          </p:cNvPr>
          <p:cNvSpPr/>
          <p:nvPr/>
        </p:nvSpPr>
        <p:spPr>
          <a:xfrm>
            <a:off x="164592" y="49423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Data Insight 2025, АКИТ 2024, Ведомости · Данные по клубам: </a:t>
            </a:r>
            <a:r>
              <a:rPr lang="en-US" sz="750" dirty="0" err="1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</a:t>
            </a:r>
            <a:r>
              <a:rPr lang="en-US" sz="7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ФНЛ</a:t>
            </a:r>
            <a:endParaRPr lang="en-US" sz="7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BF160B8-4ED1-DC4F-9473-02231AE2926C}"/>
              </a:ext>
            </a:extLst>
          </p:cNvPr>
          <p:cNvSpPr/>
          <p:nvPr/>
        </p:nvSpPr>
        <p:spPr>
          <a:xfrm>
            <a:off x="345643" y="1427963"/>
            <a:ext cx="1836115" cy="9372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658D47B-2242-2B36-5966-F10AA60D10B8}"/>
              </a:ext>
            </a:extLst>
          </p:cNvPr>
          <p:cNvSpPr/>
          <p:nvPr/>
        </p:nvSpPr>
        <p:spPr>
          <a:xfrm>
            <a:off x="345643" y="1427963"/>
            <a:ext cx="1836115" cy="47542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D1A81D1-8513-1571-253A-B11F8F8364C4}"/>
              </a:ext>
            </a:extLst>
          </p:cNvPr>
          <p:cNvSpPr/>
          <p:nvPr/>
        </p:nvSpPr>
        <p:spPr>
          <a:xfrm>
            <a:off x="455371" y="1473683"/>
            <a:ext cx="1637616" cy="42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11,2</a:t>
            </a:r>
            <a:endParaRPr lang="en-US" sz="2800" dirty="0">
              <a:solidFill>
                <a:srgbClr val="00C675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C9F5F35-08F2-88BC-27E8-BDB9FD58F759}"/>
              </a:ext>
            </a:extLst>
          </p:cNvPr>
          <p:cNvSpPr/>
          <p:nvPr/>
        </p:nvSpPr>
        <p:spPr>
          <a:xfrm>
            <a:off x="455371" y="1884669"/>
            <a:ext cx="1637616" cy="14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трлн ₽</a:t>
            </a:r>
            <a:endParaRPr lang="en-US" sz="1100" dirty="0">
              <a:solidFill>
                <a:srgbClr val="00C675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34D199-2AC5-D8E4-7EEF-32D87E47C6DB}"/>
              </a:ext>
            </a:extLst>
          </p:cNvPr>
          <p:cNvSpPr/>
          <p:nvPr/>
        </p:nvSpPr>
        <p:spPr>
          <a:xfrm>
            <a:off x="422518" y="2058451"/>
            <a:ext cx="1654158" cy="258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e-commerce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России 2024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08CD22E-9372-0F12-53FC-05C893B5FFDD}"/>
              </a:ext>
            </a:extLst>
          </p:cNvPr>
          <p:cNvSpPr/>
          <p:nvPr/>
        </p:nvSpPr>
        <p:spPr>
          <a:xfrm>
            <a:off x="2521915" y="1427963"/>
            <a:ext cx="1836115" cy="937260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044E47F-36A7-3895-43D5-3811DF844774}"/>
              </a:ext>
            </a:extLst>
          </p:cNvPr>
          <p:cNvSpPr/>
          <p:nvPr/>
        </p:nvSpPr>
        <p:spPr>
          <a:xfrm>
            <a:off x="2631643" y="1473683"/>
            <a:ext cx="1637616" cy="42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+39%</a:t>
            </a:r>
            <a:endParaRPr lang="en-US" sz="3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3A21BF-904C-B05B-1D9D-368452BBF50A}"/>
              </a:ext>
            </a:extLst>
          </p:cNvPr>
          <p:cNvSpPr/>
          <p:nvPr/>
        </p:nvSpPr>
        <p:spPr>
          <a:xfrm>
            <a:off x="2612893" y="1979863"/>
            <a:ext cx="1654158" cy="258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рынка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к году</a:t>
            </a:r>
            <a:endParaRPr lang="en-US" sz="9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2A500B22-F3ED-F6AC-AB1F-AEF8E08F12C7}"/>
              </a:ext>
            </a:extLst>
          </p:cNvPr>
          <p:cNvSpPr/>
          <p:nvPr/>
        </p:nvSpPr>
        <p:spPr>
          <a:xfrm>
            <a:off x="4698187" y="1427963"/>
            <a:ext cx="1836115" cy="9372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CE6147-BCD6-E298-881A-CEF8B3A95929}"/>
              </a:ext>
            </a:extLst>
          </p:cNvPr>
          <p:cNvSpPr/>
          <p:nvPr/>
        </p:nvSpPr>
        <p:spPr>
          <a:xfrm>
            <a:off x="4698187" y="1427963"/>
            <a:ext cx="1836115" cy="47542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A771CF4-0CF5-3E19-DD92-772D96EDCE86}"/>
              </a:ext>
            </a:extLst>
          </p:cNvPr>
          <p:cNvSpPr/>
          <p:nvPr/>
        </p:nvSpPr>
        <p:spPr>
          <a:xfrm>
            <a:off x="4807915" y="1473683"/>
            <a:ext cx="1637616" cy="42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3000" dirty="0">
              <a:solidFill>
                <a:srgbClr val="00C675"/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F0441D1C-441F-C39E-71F2-9F9A0B236FFD}"/>
              </a:ext>
            </a:extLst>
          </p:cNvPr>
          <p:cNvSpPr/>
          <p:nvPr/>
        </p:nvSpPr>
        <p:spPr>
          <a:xfrm>
            <a:off x="4787798" y="1974550"/>
            <a:ext cx="1654158" cy="258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объёма продаж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генерируют регионы</a:t>
            </a:r>
            <a:endParaRPr lang="en-US" sz="9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0B2B1160-8461-2A7C-2BAD-E70DC09216CA}"/>
              </a:ext>
            </a:extLst>
          </p:cNvPr>
          <p:cNvSpPr/>
          <p:nvPr/>
        </p:nvSpPr>
        <p:spPr>
          <a:xfrm>
            <a:off x="6874459" y="1427963"/>
            <a:ext cx="1836115" cy="93726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7A06BA5-50C8-B09D-E2B6-CF1A3A108A95}"/>
              </a:ext>
            </a:extLst>
          </p:cNvPr>
          <p:cNvSpPr/>
          <p:nvPr/>
        </p:nvSpPr>
        <p:spPr>
          <a:xfrm>
            <a:off x="6984187" y="1473683"/>
            <a:ext cx="1637616" cy="42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60–80%</a:t>
            </a:r>
            <a:endParaRPr lang="en-US" sz="30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ABA168E-1339-DEE8-B92E-2CECEBFE92AE}"/>
              </a:ext>
            </a:extLst>
          </p:cNvPr>
          <p:cNvSpPr/>
          <p:nvPr/>
        </p:nvSpPr>
        <p:spPr>
          <a:xfrm>
            <a:off x="6963250" y="1972498"/>
            <a:ext cx="1654158" cy="258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продаж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регионах (2024)</a:t>
            </a:r>
            <a:endParaRPr lang="en-US" sz="9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9466090D-3CE3-544E-CBC7-B2C6E3B7A1A9}"/>
              </a:ext>
            </a:extLst>
          </p:cNvPr>
          <p:cNvSpPr/>
          <p:nvPr/>
        </p:nvSpPr>
        <p:spPr>
          <a:xfrm>
            <a:off x="345643" y="2588724"/>
            <a:ext cx="1836115" cy="16138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4E8FA8AD-B796-A17A-DD3D-06E15E5CD33B}"/>
              </a:ext>
            </a:extLst>
          </p:cNvPr>
          <p:cNvSpPr/>
          <p:nvPr/>
        </p:nvSpPr>
        <p:spPr>
          <a:xfrm>
            <a:off x="345643" y="2588724"/>
            <a:ext cx="1836115" cy="45719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18112826-9F6B-69D9-3B52-2A814D934346}"/>
              </a:ext>
            </a:extLst>
          </p:cNvPr>
          <p:cNvSpPr/>
          <p:nvPr/>
        </p:nvSpPr>
        <p:spPr>
          <a:xfrm>
            <a:off x="385630" y="2718339"/>
            <a:ext cx="1703782" cy="31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3200" dirty="0">
              <a:solidFill>
                <a:srgbClr val="00C675"/>
              </a:solidFill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43966275-C2E5-B82F-2FC1-BCD21AD703EC}"/>
              </a:ext>
            </a:extLst>
          </p:cNvPr>
          <p:cNvSpPr/>
          <p:nvPr/>
        </p:nvSpPr>
        <p:spPr>
          <a:xfrm>
            <a:off x="385630" y="3230403"/>
            <a:ext cx="1703782" cy="31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клубов ФНЛ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интернет-магазина</a:t>
            </a:r>
            <a:endParaRPr lang="en-US" sz="950" dirty="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29DEAED3-840D-ABE3-D650-F082BF62522C}"/>
              </a:ext>
            </a:extLst>
          </p:cNvPr>
          <p:cNvSpPr/>
          <p:nvPr/>
        </p:nvSpPr>
        <p:spPr>
          <a:xfrm>
            <a:off x="385630" y="3751610"/>
            <a:ext cx="1703782" cy="30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из 73 клубов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имеют онлайн-продаж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2F748576-1BA1-728A-CDFA-C316954E434F}"/>
              </a:ext>
            </a:extLst>
          </p:cNvPr>
          <p:cNvSpPr/>
          <p:nvPr/>
        </p:nvSpPr>
        <p:spPr>
          <a:xfrm>
            <a:off x="2521915" y="2588724"/>
            <a:ext cx="1836115" cy="1613817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D1ECE986-1BE6-AB69-3E3C-861955D4DA4B}"/>
              </a:ext>
            </a:extLst>
          </p:cNvPr>
          <p:cNvSpPr/>
          <p:nvPr/>
        </p:nvSpPr>
        <p:spPr>
          <a:xfrm>
            <a:off x="2521915" y="2588724"/>
            <a:ext cx="1836115" cy="45719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695D9F61-0F2F-9E38-4C9C-F22363249E7A}"/>
              </a:ext>
            </a:extLst>
          </p:cNvPr>
          <p:cNvSpPr/>
          <p:nvPr/>
        </p:nvSpPr>
        <p:spPr>
          <a:xfrm>
            <a:off x="2561902" y="2718339"/>
            <a:ext cx="1703782" cy="31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3200" dirty="0">
              <a:solidFill>
                <a:srgbClr val="00C675"/>
              </a:solidFill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82CDA452-C80E-A710-2186-437F509A91B3}"/>
              </a:ext>
            </a:extLst>
          </p:cNvPr>
          <p:cNvSpPr/>
          <p:nvPr/>
        </p:nvSpPr>
        <p:spPr>
          <a:xfrm>
            <a:off x="2561902" y="3230403"/>
            <a:ext cx="1703782" cy="31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клубов — совсем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торговли атрибутикой</a:t>
            </a:r>
            <a:endParaRPr lang="en-US" sz="95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D9CECEFE-9AA8-F222-2B5C-32ADBB18FF5F}"/>
              </a:ext>
            </a:extLst>
          </p:cNvPr>
          <p:cNvSpPr/>
          <p:nvPr/>
        </p:nvSpPr>
        <p:spPr>
          <a:xfrm>
            <a:off x="2561902" y="3751610"/>
            <a:ext cx="1703782" cy="30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онлайн, ни офлайн,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продаж на матче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1AF9AF97-8B1F-EE49-580B-2263B5EBC9ED}"/>
              </a:ext>
            </a:extLst>
          </p:cNvPr>
          <p:cNvSpPr/>
          <p:nvPr/>
        </p:nvSpPr>
        <p:spPr>
          <a:xfrm>
            <a:off x="4698187" y="2588724"/>
            <a:ext cx="1836115" cy="16138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10F8D47C-EDCB-D018-B768-894EB9F5CD29}"/>
              </a:ext>
            </a:extLst>
          </p:cNvPr>
          <p:cNvSpPr/>
          <p:nvPr/>
        </p:nvSpPr>
        <p:spPr>
          <a:xfrm>
            <a:off x="4738174" y="2718339"/>
            <a:ext cx="1703782" cy="31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SKU</a:t>
            </a:r>
            <a:endParaRPr lang="en-US" sz="2200" dirty="0">
              <a:solidFill>
                <a:srgbClr val="00C675"/>
              </a:solidFill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38250D2F-37EC-BEB0-AE4E-A82C315EC5AE}"/>
              </a:ext>
            </a:extLst>
          </p:cNvPr>
          <p:cNvSpPr/>
          <p:nvPr/>
        </p:nvSpPr>
        <p:spPr>
          <a:xfrm>
            <a:off x="4738174" y="3230403"/>
            <a:ext cx="1703782" cy="31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ассортимента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клуба в онлайне</a:t>
            </a:r>
            <a:endParaRPr lang="en-US" sz="95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870DCE96-3F2A-0E3E-E681-FFEB7B93A6A0}"/>
              </a:ext>
            </a:extLst>
          </p:cNvPr>
          <p:cNvSpPr/>
          <p:nvPr/>
        </p:nvSpPr>
        <p:spPr>
          <a:xfrm>
            <a:off x="4738174" y="3751610"/>
            <a:ext cx="1703782" cy="30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клубов имеют 0 SKU,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4 клуба — 100+ SKU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23E1161F-5E9E-EE82-D3DC-4E7A745E457F}"/>
              </a:ext>
            </a:extLst>
          </p:cNvPr>
          <p:cNvSpPr/>
          <p:nvPr/>
        </p:nvSpPr>
        <p:spPr>
          <a:xfrm>
            <a:off x="6874459" y="2588724"/>
            <a:ext cx="1836115" cy="1613817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649AA8FE-025A-BA10-3A9D-379FF364A3B7}"/>
              </a:ext>
            </a:extLst>
          </p:cNvPr>
          <p:cNvSpPr/>
          <p:nvPr/>
        </p:nvSpPr>
        <p:spPr>
          <a:xfrm>
            <a:off x="6874459" y="2588724"/>
            <a:ext cx="1836115" cy="45719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E176D90-8A4B-18D4-5BE6-A4CC890A4B33}"/>
              </a:ext>
            </a:extLst>
          </p:cNvPr>
          <p:cNvSpPr/>
          <p:nvPr/>
        </p:nvSpPr>
        <p:spPr>
          <a:xfrm>
            <a:off x="6914446" y="2718339"/>
            <a:ext cx="1703782" cy="31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 SKU</a:t>
            </a:r>
            <a:endParaRPr lang="en-US" sz="2200" dirty="0">
              <a:solidFill>
                <a:srgbClr val="00C675"/>
              </a:solidFill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6A8BF07-5CFC-300B-B1F2-A28BCC1F1CFC}"/>
              </a:ext>
            </a:extLst>
          </p:cNvPr>
          <p:cNvSpPr/>
          <p:nvPr/>
        </p:nvSpPr>
        <p:spPr>
          <a:xfrm>
            <a:off x="6914446" y="3230403"/>
            <a:ext cx="1703782" cy="31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ср. SKU в Москве и СПб —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15× меньше лидера</a:t>
            </a:r>
            <a:endParaRPr lang="en-US" sz="95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6DFC9F7-E9D5-A3CC-7CDB-5212DA68EA35}"/>
              </a:ext>
            </a:extLst>
          </p:cNvPr>
          <p:cNvSpPr/>
          <p:nvPr/>
        </p:nvSpPr>
        <p:spPr>
          <a:xfrm>
            <a:off x="6914446" y="3751610"/>
            <a:ext cx="1703782" cy="301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города с аудиторией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— почти без мерча</a:t>
            </a:r>
            <a:endParaRPr lang="en-US" sz="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4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 ПРОЕКТЕ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627120" cy="41833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627120" cy="45719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502920" y="982979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Маркетплейс ФНЛ?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03020"/>
            <a:ext cx="3444240" cy="3589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ФНЛ</a:t>
            </a: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онлайн-платформа для продажи клубной продукции и нейтрального мерча лиги, объединяющая в одном месте продавцов (клубы ФНЛ и лигу) и покупателей-болельщиков.
</a:t>
            </a: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задачи платформы:
</a:t>
            </a:r>
            <a:r>
              <a:rPr lang="en-US" sz="13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Эффективная реализация мерча клубов и лиги
• Улучшение фанатского опыта
• Упрощение пути пользователя
• Снижение затрат клубов на ведение онлайн-магазина</a:t>
            </a:r>
            <a:endParaRPr lang="en-US" sz="13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2EE2C19A-0A93-9AB1-9726-F91BEF87FA93}"/>
              </a:ext>
            </a:extLst>
          </p:cNvPr>
          <p:cNvSpPr/>
          <p:nvPr/>
        </p:nvSpPr>
        <p:spPr>
          <a:xfrm>
            <a:off x="4863777" y="731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0D0D0D"/>
                </a:solidFill>
                <a:latin typeface="Arial" pitchFamily="34" charset="0"/>
                <a:cs typeface="Arial" pitchFamily="34" charset="-120"/>
              </a:rPr>
              <a:t>Примерный макет главной страницы</a:t>
            </a:r>
            <a:endParaRPr lang="en-US" sz="1500" dirty="0"/>
          </a:p>
        </p:txBody>
      </p:sp>
      <p:pic>
        <p:nvPicPr>
          <p:cNvPr id="27" name="Рисунок 26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740FD0E-EAE9-C4EC-B885-4ED8DB0A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298" y="1063670"/>
            <a:ext cx="3815265" cy="19228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A64F34-9CCD-C522-FE92-65E72154C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548" y="3051810"/>
            <a:ext cx="3758763" cy="1922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УЧАСТНИКИ И РОЛИ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2608" y="7589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 пользователей с разными правами доступа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988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20848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697480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8"/>
          <p:cNvSpPr/>
          <p:nvPr/>
        </p:nvSpPr>
        <p:spPr>
          <a:xfrm>
            <a:off x="685800" y="26517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авторизация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035808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Text 10"/>
          <p:cNvSpPr/>
          <p:nvPr/>
        </p:nvSpPr>
        <p:spPr>
          <a:xfrm>
            <a:off x="685800" y="29900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каталог товаров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3374136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5" name="Text 12"/>
          <p:cNvSpPr/>
          <p:nvPr/>
        </p:nvSpPr>
        <p:spPr>
          <a:xfrm>
            <a:off x="685800" y="332841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 и оформление заказа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712464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4"/>
          <p:cNvSpPr/>
          <p:nvPr/>
        </p:nvSpPr>
        <p:spPr>
          <a:xfrm>
            <a:off x="685800" y="36667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кабинет и история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050792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Text 16"/>
          <p:cNvSpPr/>
          <p:nvPr/>
        </p:nvSpPr>
        <p:spPr>
          <a:xfrm>
            <a:off x="685800" y="40050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(вишлист)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389120"/>
            <a:ext cx="109728" cy="109728"/>
          </a:xfrm>
          <a:prstGeom prst="ellipse">
            <a:avLst/>
          </a:prstGeom>
          <a:solidFill>
            <a:srgbClr val="006F08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8"/>
          <p:cNvSpPr/>
          <p:nvPr/>
        </p:nvSpPr>
        <p:spPr>
          <a:xfrm>
            <a:off x="685800" y="43434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и рейтинги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3" name="Shape 20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Shape 21"/>
          <p:cNvSpPr/>
          <p:nvPr/>
        </p:nvSpPr>
        <p:spPr>
          <a:xfrm>
            <a:off x="3383280" y="1325880"/>
            <a:ext cx="640080" cy="640080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467612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355848" y="20848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Продавец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</a:t>
            </a: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луб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ru-RU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Лига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3429000" y="2697480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4"/>
          <p:cNvSpPr/>
          <p:nvPr/>
        </p:nvSpPr>
        <p:spPr>
          <a:xfrm>
            <a:off x="3611880" y="26517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товарами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429000" y="3035808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6"/>
          <p:cNvSpPr/>
          <p:nvPr/>
        </p:nvSpPr>
        <p:spPr>
          <a:xfrm>
            <a:off x="3611880" y="29900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остатки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3429000" y="3374136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2" name="Text 28"/>
          <p:cNvSpPr/>
          <p:nvPr/>
        </p:nvSpPr>
        <p:spPr>
          <a:xfrm>
            <a:off x="3611880" y="332841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доставки и оплаты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3429000" y="3712464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Text 30"/>
          <p:cNvSpPr/>
          <p:nvPr/>
        </p:nvSpPr>
        <p:spPr>
          <a:xfrm>
            <a:off x="3611880" y="36667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заказов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429000" y="4050792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6" name="Text 32"/>
          <p:cNvSpPr/>
          <p:nvPr/>
        </p:nvSpPr>
        <p:spPr>
          <a:xfrm>
            <a:off x="3611880" y="40050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отзывы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429000" y="4389120"/>
            <a:ext cx="109728" cy="109728"/>
          </a:xfrm>
          <a:prstGeom prst="ellipse">
            <a:avLst/>
          </a:prstGeom>
          <a:solidFill>
            <a:srgbClr val="4DAAFF"/>
          </a:solidFill>
          <a:ln w="12700">
            <a:solidFill>
              <a:srgbClr val="4DAAFF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Text 34"/>
          <p:cNvSpPr/>
          <p:nvPr/>
        </p:nvSpPr>
        <p:spPr>
          <a:xfrm>
            <a:off x="3611880" y="43434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аналитика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172200" y="1188720"/>
            <a:ext cx="2743200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0" name="Shape 36"/>
          <p:cNvSpPr/>
          <p:nvPr/>
        </p:nvSpPr>
        <p:spPr>
          <a:xfrm>
            <a:off x="6172200" y="1188720"/>
            <a:ext cx="2743200" cy="73152"/>
          </a:xfrm>
          <a:prstGeom prst="rect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1" name="Shape 37"/>
          <p:cNvSpPr/>
          <p:nvPr/>
        </p:nvSpPr>
        <p:spPr>
          <a:xfrm>
            <a:off x="6309360" y="1325880"/>
            <a:ext cx="640080" cy="640080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89888"/>
            <a:ext cx="502920" cy="5029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281928" y="20848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500" dirty="0"/>
          </a:p>
        </p:txBody>
      </p:sp>
      <p:sp>
        <p:nvSpPr>
          <p:cNvPr id="44" name="Shape 39"/>
          <p:cNvSpPr/>
          <p:nvPr/>
        </p:nvSpPr>
        <p:spPr>
          <a:xfrm>
            <a:off x="6355080" y="2697480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Text 40"/>
          <p:cNvSpPr/>
          <p:nvPr/>
        </p:nvSpPr>
        <p:spPr>
          <a:xfrm>
            <a:off x="6537960" y="265176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учётными записями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355080" y="3035808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7" name="Text 42"/>
          <p:cNvSpPr/>
          <p:nvPr/>
        </p:nvSpPr>
        <p:spPr>
          <a:xfrm>
            <a:off x="6537960" y="29900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аккаунтов продавцов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6355080" y="3374136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Text 44"/>
          <p:cNvSpPr/>
          <p:nvPr/>
        </p:nvSpPr>
        <p:spPr>
          <a:xfrm>
            <a:off x="6537960" y="332841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всех пользователей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6355080" y="3712464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1" name="Text 46"/>
          <p:cNvSpPr/>
          <p:nvPr/>
        </p:nvSpPr>
        <p:spPr>
          <a:xfrm>
            <a:off x="6537960" y="36667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платформы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>
            <a:off x="6355080" y="4050792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3" name="Text 48"/>
          <p:cNvSpPr/>
          <p:nvPr/>
        </p:nvSpPr>
        <p:spPr>
          <a:xfrm>
            <a:off x="6537960" y="40050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изменений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6355080" y="4389120"/>
            <a:ext cx="109728" cy="109728"/>
          </a:xfrm>
          <a:prstGeom prst="ellipse">
            <a:avLst/>
          </a:prstGeom>
          <a:solidFill>
            <a:srgbClr val="7ED8A0"/>
          </a:solidFill>
          <a:ln w="12700">
            <a:solidFill>
              <a:srgbClr val="7ED8A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5" name="Text 50"/>
          <p:cNvSpPr/>
          <p:nvPr/>
        </p:nvSpPr>
        <p:spPr>
          <a:xfrm>
            <a:off x="6537960" y="43434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Блокировка / удаление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400"/>
            <a:ext cx="914400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7315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256032" y="12710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ФУНКЦИОНАЛЬНЫЕ МОДУЛИ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Text 5"/>
          <p:cNvSpPr/>
          <p:nvPr/>
        </p:nvSpPr>
        <p:spPr>
          <a:xfrm>
            <a:off x="329184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C5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19072" y="102412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087222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4086" y="130850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4086" y="1595628"/>
            <a:ext cx="194218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Вход, регистрация, восстановление пароля, парольная политика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50592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2450592" y="91440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/>
          <p:nvPr/>
        </p:nvSpPr>
        <p:spPr>
          <a:xfrm>
            <a:off x="2523744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A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13632" y="102412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068" y="1081278"/>
            <a:ext cx="319126" cy="31912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32304" y="130942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страница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463394" y="16687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реклама, лента товаров, переходы в разделы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645152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0" name="Shape 16"/>
          <p:cNvSpPr/>
          <p:nvPr/>
        </p:nvSpPr>
        <p:spPr>
          <a:xfrm>
            <a:off x="4645152" y="91440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Text 17"/>
          <p:cNvSpPr/>
          <p:nvPr/>
        </p:nvSpPr>
        <p:spPr>
          <a:xfrm>
            <a:off x="4718304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C5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08192" y="102412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106196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49724" y="1309421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товаров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649724" y="1679753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Категории, фильтры, сортировка, многоуровневая навигация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839712" y="92263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7" name="Shape 22"/>
          <p:cNvSpPr/>
          <p:nvPr/>
        </p:nvSpPr>
        <p:spPr>
          <a:xfrm>
            <a:off x="6839712" y="91440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3"/>
          <p:cNvSpPr/>
          <p:nvPr/>
        </p:nvSpPr>
        <p:spPr>
          <a:xfrm>
            <a:off x="6912864" y="1024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A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302752" y="102412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1069848"/>
            <a:ext cx="347472" cy="34747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9712" y="1302563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839712" y="1663751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варианты, добавление в корзину, отзывы и рейтинги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Shape 27"/>
          <p:cNvSpPr/>
          <p:nvPr/>
        </p:nvSpPr>
        <p:spPr>
          <a:xfrm>
            <a:off x="256032" y="28803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4" name="Shape 28"/>
          <p:cNvSpPr/>
          <p:nvPr/>
        </p:nvSpPr>
        <p:spPr>
          <a:xfrm>
            <a:off x="256032" y="288036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5" name="Text 29"/>
          <p:cNvSpPr/>
          <p:nvPr/>
        </p:nvSpPr>
        <p:spPr>
          <a:xfrm>
            <a:off x="329184" y="2990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C5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1719072" y="299008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6679" y="3079242"/>
            <a:ext cx="301752" cy="30175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249631" y="32232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249631" y="3524555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Управление, разделение по продавцам, переход к оплате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Shape 33"/>
          <p:cNvSpPr/>
          <p:nvPr/>
        </p:nvSpPr>
        <p:spPr>
          <a:xfrm>
            <a:off x="2450592" y="28803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1" name="Shape 34"/>
          <p:cNvSpPr/>
          <p:nvPr/>
        </p:nvSpPr>
        <p:spPr>
          <a:xfrm>
            <a:off x="2450592" y="288036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2" name="Text 35"/>
          <p:cNvSpPr/>
          <p:nvPr/>
        </p:nvSpPr>
        <p:spPr>
          <a:xfrm>
            <a:off x="2523744" y="2990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A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3913632" y="299008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9352" y="3035808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450592" y="32232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2445106" y="353187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статусы, отслеживание, отмена заказа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645152" y="28803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8" name="Shape 40"/>
          <p:cNvSpPr/>
          <p:nvPr/>
        </p:nvSpPr>
        <p:spPr>
          <a:xfrm>
            <a:off x="4645152" y="288036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Text 41"/>
          <p:cNvSpPr/>
          <p:nvPr/>
        </p:nvSpPr>
        <p:spPr>
          <a:xfrm>
            <a:off x="4718304" y="2990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9C5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6108192" y="299008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912" y="3035808"/>
            <a:ext cx="347472" cy="347472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636008" y="322874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</a:t>
            </a: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</a:t>
            </a:r>
            <a:r>
              <a:rPr lang="ru-RU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покупателя</a:t>
            </a:r>
            <a:endParaRPr lang="en-US" sz="1250" dirty="0"/>
          </a:p>
        </p:txBody>
      </p:sp>
      <p:sp>
        <p:nvSpPr>
          <p:cNvPr id="53" name="Text 44"/>
          <p:cNvSpPr/>
          <p:nvPr/>
        </p:nvSpPr>
        <p:spPr>
          <a:xfrm>
            <a:off x="4636008" y="3524555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избранное, управление аккаунтом, история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Shape 45"/>
          <p:cNvSpPr/>
          <p:nvPr/>
        </p:nvSpPr>
        <p:spPr>
          <a:xfrm>
            <a:off x="6839712" y="28803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55" name="Shape 46"/>
          <p:cNvSpPr/>
          <p:nvPr/>
        </p:nvSpPr>
        <p:spPr>
          <a:xfrm>
            <a:off x="6839712" y="2880360"/>
            <a:ext cx="2011680" cy="64008"/>
          </a:xfrm>
          <a:prstGeom prst="rect">
            <a:avLst/>
          </a:prstGeom>
          <a:solidFill>
            <a:srgbClr val="00C675"/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6" name="Text 47"/>
          <p:cNvSpPr/>
          <p:nvPr/>
        </p:nvSpPr>
        <p:spPr>
          <a:xfrm>
            <a:off x="6912864" y="29900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A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8302752" y="2990088"/>
            <a:ext cx="438912" cy="43891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8472" y="3035808"/>
            <a:ext cx="347472" cy="347472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839712" y="321777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Кабинет продавца</a:t>
            </a:r>
            <a:endParaRPr lang="en-US" sz="1250" dirty="0"/>
          </a:p>
        </p:txBody>
      </p:sp>
      <p:sp>
        <p:nvSpPr>
          <p:cNvPr id="60" name="Text 50"/>
          <p:cNvSpPr/>
          <p:nvPr/>
        </p:nvSpPr>
        <p:spPr>
          <a:xfrm>
            <a:off x="6839712" y="3524555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Товары, цены, остатки, заказы, доставка, аналитика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16">
            <a:extLst>
              <a:ext uri="{FF2B5EF4-FFF2-40B4-BE49-F238E27FC236}">
                <a16:creationId xmlns:a16="http://schemas.microsoft.com/office/drawing/2014/main" id="{8DFAF5A1-80DA-ADDE-6D54-213B04DF86A1}"/>
              </a:ext>
            </a:extLst>
          </p:cNvPr>
          <p:cNvSpPr/>
          <p:nvPr/>
        </p:nvSpPr>
        <p:spPr>
          <a:xfrm>
            <a:off x="271585" y="4072832"/>
            <a:ext cx="3861503" cy="77284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271585" y="10433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РЕГИСТРАЦИЯ И </a:t>
            </a: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АВТОРИЗАЦИЯ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" y="680408"/>
            <a:ext cx="388620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246888" y="680408"/>
            <a:ext cx="73152" cy="11430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393192" y="826712"/>
            <a:ext cx="594360" cy="59436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50" y="93343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72146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в аккаунт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1119320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Text 8"/>
          <p:cNvSpPr/>
          <p:nvPr/>
        </p:nvSpPr>
        <p:spPr>
          <a:xfrm>
            <a:off x="1097280" y="1128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344168" y="112846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Перейти на Shop.fnl.pro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97280" y="1347920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/>
          <p:nvPr/>
        </p:nvSpPr>
        <p:spPr>
          <a:xfrm>
            <a:off x="1097280" y="1366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344168" y="13662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логин (email или телефон) и пароль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97280" y="1576520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Text 14"/>
          <p:cNvSpPr/>
          <p:nvPr/>
        </p:nvSpPr>
        <p:spPr>
          <a:xfrm>
            <a:off x="1097280" y="1603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344168" y="160395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Нажать «Войти» — редирект в маркетплейс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6888" y="1942280"/>
            <a:ext cx="388620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Shape 17"/>
          <p:cNvSpPr/>
          <p:nvPr/>
        </p:nvSpPr>
        <p:spPr>
          <a:xfrm>
            <a:off x="246888" y="1942280"/>
            <a:ext cx="73152" cy="11430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1" name="Shape 18"/>
          <p:cNvSpPr/>
          <p:nvPr/>
        </p:nvSpPr>
        <p:spPr>
          <a:xfrm>
            <a:off x="393192" y="2088584"/>
            <a:ext cx="594360" cy="59436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170174"/>
            <a:ext cx="367172" cy="3671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97280" y="198333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097280" y="2381192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Text 21"/>
          <p:cNvSpPr/>
          <p:nvPr/>
        </p:nvSpPr>
        <p:spPr>
          <a:xfrm>
            <a:off x="1097280" y="2390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344168" y="239033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фамилия, email, телефон, город, согласие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097280" y="2609792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4"/>
          <p:cNvSpPr/>
          <p:nvPr/>
        </p:nvSpPr>
        <p:spPr>
          <a:xfrm>
            <a:off x="1097280" y="2628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1344168" y="262808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телефон через SMS-код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1097280" y="2838392"/>
            <a:ext cx="182880" cy="18288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1" name="Text 27"/>
          <p:cNvSpPr/>
          <p:nvPr/>
        </p:nvSpPr>
        <p:spPr>
          <a:xfrm>
            <a:off x="1097280" y="2865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344168" y="28658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email по ссылке в письме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246888" y="3176720"/>
            <a:ext cx="3886200" cy="78638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Shape 30"/>
          <p:cNvSpPr/>
          <p:nvPr/>
        </p:nvSpPr>
        <p:spPr>
          <a:xfrm>
            <a:off x="246888" y="3176720"/>
            <a:ext cx="54864" cy="78638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5" name="Shape 31"/>
          <p:cNvSpPr/>
          <p:nvPr/>
        </p:nvSpPr>
        <p:spPr>
          <a:xfrm>
            <a:off x="393192" y="3240728"/>
            <a:ext cx="594360" cy="59436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44" y="3350456"/>
            <a:ext cx="374904" cy="37490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097280" y="3405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Восстановление пароля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1097280" y="3889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4407408" y="716984"/>
            <a:ext cx="443484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8" name="Shape 43"/>
          <p:cNvSpPr/>
          <p:nvPr/>
        </p:nvSpPr>
        <p:spPr>
          <a:xfrm>
            <a:off x="4407408" y="716984"/>
            <a:ext cx="443484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Shape 44"/>
          <p:cNvSpPr/>
          <p:nvPr/>
        </p:nvSpPr>
        <p:spPr>
          <a:xfrm>
            <a:off x="4562856" y="863288"/>
            <a:ext cx="594360" cy="59436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097" y="939462"/>
            <a:ext cx="413309" cy="413309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5257800" y="817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KeyCloak (экосистема ФНЛ)</a:t>
            </a:r>
            <a:endParaRPr lang="en-US" sz="1250" dirty="0"/>
          </a:p>
        </p:txBody>
      </p:sp>
      <p:sp>
        <p:nvSpPr>
          <p:cNvPr id="52" name="Text 46"/>
          <p:cNvSpPr/>
          <p:nvPr/>
        </p:nvSpPr>
        <p:spPr>
          <a:xfrm>
            <a:off x="5257800" y="117418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аккаунт fnl.pro · собственный ЛК маркетплейса · свой путь регистрации, авторизации, восстановления пароля и удаления аккаунта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387722" y="4162074"/>
            <a:ext cx="594360" cy="59436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62" y="4250289"/>
            <a:ext cx="425606" cy="425606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1110098" y="42759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Парольная политика</a:t>
            </a:r>
            <a:endParaRPr lang="en-US" sz="1600" dirty="0"/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9CE04877-EF81-DAC4-1A4A-C140F7E21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76" y="16796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US"/>
          </a:p>
        </p:txBody>
      </p:sp>
      <p:pic>
        <p:nvPicPr>
          <p:cNvPr id="1025" name="Рисунок 2" descr="Изображение выглядит как текст, чек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98C104-C0E1-B1BE-3F6B-56E3EBBF6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0" t="14645" r="9344" b="15263"/>
          <a:stretch>
            <a:fillRect/>
          </a:stretch>
        </p:blipFill>
        <p:spPr bwMode="auto">
          <a:xfrm>
            <a:off x="5580665" y="2033720"/>
            <a:ext cx="2088325" cy="270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Shape 30">
            <a:extLst>
              <a:ext uri="{FF2B5EF4-FFF2-40B4-BE49-F238E27FC236}">
                <a16:creationId xmlns:a16="http://schemas.microsoft.com/office/drawing/2014/main" id="{CBF9B231-5C85-FD13-5C8B-14614733C536}"/>
              </a:ext>
            </a:extLst>
          </p:cNvPr>
          <p:cNvSpPr/>
          <p:nvPr/>
        </p:nvSpPr>
        <p:spPr>
          <a:xfrm>
            <a:off x="244153" y="4041004"/>
            <a:ext cx="54864" cy="78638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КАТАЛОГ ТОВАРОВ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" y="937260"/>
            <a:ext cx="3438769" cy="909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118872" y="937260"/>
            <a:ext cx="3438769" cy="45719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256032" y="1101852"/>
            <a:ext cx="428922" cy="293167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28" y="1144380"/>
            <a:ext cx="214063" cy="2140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3544" y="1046988"/>
            <a:ext cx="2714039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каталога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3602" y="1198423"/>
            <a:ext cx="2714039" cy="6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Плитка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изображение, название, цена. Переход в карточку, добавление в корзину/избранное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8872" y="3027224"/>
            <a:ext cx="3438769" cy="909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118872" y="3027224"/>
            <a:ext cx="3438769" cy="45719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Shape 11"/>
          <p:cNvSpPr/>
          <p:nvPr/>
        </p:nvSpPr>
        <p:spPr>
          <a:xfrm>
            <a:off x="256032" y="3191816"/>
            <a:ext cx="428922" cy="293167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33" y="3252397"/>
            <a:ext cx="223520" cy="223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3544" y="3136952"/>
            <a:ext cx="2714039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43601" y="3274046"/>
            <a:ext cx="2714039" cy="6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категории, цене, наличию, клубу и размеру. Список товаров обновляется мгновенно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18872" y="1998523"/>
            <a:ext cx="3438769" cy="909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118872" y="1998523"/>
            <a:ext cx="3438769" cy="45719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Shape 16"/>
          <p:cNvSpPr/>
          <p:nvPr/>
        </p:nvSpPr>
        <p:spPr>
          <a:xfrm>
            <a:off x="256032" y="2163115"/>
            <a:ext cx="428922" cy="293167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81" y="2191178"/>
            <a:ext cx="237510" cy="2375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3544" y="2108251"/>
            <a:ext cx="2714039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43602" y="2207610"/>
            <a:ext cx="2714039" cy="6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· По популярности · По новизне · По цене (возрастание/убывание)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118872" y="4088487"/>
            <a:ext cx="3438769" cy="9098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5" name="Shape 20"/>
          <p:cNvSpPr/>
          <p:nvPr/>
        </p:nvSpPr>
        <p:spPr>
          <a:xfrm>
            <a:off x="118872" y="4088487"/>
            <a:ext cx="3438769" cy="45719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Shape 21"/>
          <p:cNvSpPr/>
          <p:nvPr/>
        </p:nvSpPr>
        <p:spPr>
          <a:xfrm>
            <a:off x="256032" y="4253079"/>
            <a:ext cx="428922" cy="293167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>
              <a:solidFill>
                <a:schemeClr val="bg1"/>
              </a:solidFill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35" y="4294252"/>
            <a:ext cx="227818" cy="22781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3544" y="4198215"/>
            <a:ext cx="2714039" cy="192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Многоуровневые категории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43602" y="4320568"/>
            <a:ext cx="2714039" cy="616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→ подкатегория. Хлебные крошки и фильтры отражают текущий уровень вложенности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9A589A4-943A-96B9-6784-1FD195F2E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966" y="1457047"/>
            <a:ext cx="4964002" cy="2796032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98EF2811-F2E9-61C7-0901-B200A1620BC9}"/>
              </a:ext>
            </a:extLst>
          </p:cNvPr>
          <p:cNvSpPr/>
          <p:nvPr/>
        </p:nvSpPr>
        <p:spPr>
          <a:xfrm>
            <a:off x="0" y="7315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КАРТОЧКА ТОВАРА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566160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3291840" cy="1737360"/>
          </a:xfrm>
          <a:prstGeom prst="rect">
            <a:avLst/>
          </a:prstGeom>
          <a:solidFill>
            <a:srgbClr val="00C675">
              <a:alpha val="43137"/>
            </a:srgbClr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9" name="Shape 6"/>
          <p:cNvSpPr/>
          <p:nvPr/>
        </p:nvSpPr>
        <p:spPr>
          <a:xfrm>
            <a:off x="411480" y="2926080"/>
            <a:ext cx="987552" cy="658368"/>
          </a:xfrm>
          <a:prstGeom prst="rect">
            <a:avLst/>
          </a:prstGeom>
          <a:solidFill>
            <a:srgbClr val="00C675">
              <a:alpha val="41176"/>
            </a:srgbClr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0" name="Shape 7"/>
          <p:cNvSpPr/>
          <p:nvPr/>
        </p:nvSpPr>
        <p:spPr>
          <a:xfrm>
            <a:off x="1527048" y="2926080"/>
            <a:ext cx="987552" cy="658368"/>
          </a:xfrm>
          <a:prstGeom prst="rect">
            <a:avLst/>
          </a:prstGeom>
          <a:solidFill>
            <a:srgbClr val="F4FAF9"/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1" name="Shape 8"/>
          <p:cNvSpPr/>
          <p:nvPr/>
        </p:nvSpPr>
        <p:spPr>
          <a:xfrm>
            <a:off x="2642616" y="2926080"/>
            <a:ext cx="987552" cy="658368"/>
          </a:xfrm>
          <a:prstGeom prst="rect">
            <a:avLst/>
          </a:prstGeom>
          <a:solidFill>
            <a:srgbClr val="F4FAF9"/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9"/>
          <p:cNvSpPr/>
          <p:nvPr/>
        </p:nvSpPr>
        <p:spPr>
          <a:xfrm>
            <a:off x="411480" y="36758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/>
              <a:t>Игровая футболка ФК «Урал» 2025/26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1208" y="4044419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r>
              <a:rPr lang="en-US" sz="17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990 ₽</a:t>
            </a:r>
            <a:endParaRPr lang="en-US" sz="1700" dirty="0">
              <a:solidFill>
                <a:srgbClr val="00C675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8912" y="447141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188720" y="4453128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3"/>
          <p:cNvSpPr/>
          <p:nvPr/>
        </p:nvSpPr>
        <p:spPr>
          <a:xfrm>
            <a:off x="1188720" y="4453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645920" y="4453128"/>
            <a:ext cx="365760" cy="27432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5"/>
          <p:cNvSpPr/>
          <p:nvPr/>
        </p:nvSpPr>
        <p:spPr>
          <a:xfrm>
            <a:off x="1645920" y="4453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103120" y="4453128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Text 17"/>
          <p:cNvSpPr/>
          <p:nvPr/>
        </p:nvSpPr>
        <p:spPr>
          <a:xfrm>
            <a:off x="2103120" y="4453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560320" y="4453128"/>
            <a:ext cx="3657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Text 19"/>
          <p:cNvSpPr/>
          <p:nvPr/>
        </p:nvSpPr>
        <p:spPr>
          <a:xfrm>
            <a:off x="2560320" y="4453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069080" y="91440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069080" y="914400"/>
            <a:ext cx="73152" cy="65836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2"/>
          <p:cNvSpPr/>
          <p:nvPr/>
        </p:nvSpPr>
        <p:spPr>
          <a:xfrm>
            <a:off x="4206240" y="1005840"/>
            <a:ext cx="448056" cy="44257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338" y="1071898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773168" y="9784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Фотографии товара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712818" y="121820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фото с зумом при наведении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дополнительных фото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069080" y="1664208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0" name="Shape 26"/>
          <p:cNvSpPr/>
          <p:nvPr/>
        </p:nvSpPr>
        <p:spPr>
          <a:xfrm>
            <a:off x="4069080" y="1664208"/>
            <a:ext cx="73152" cy="65836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1" name="Shape 27"/>
          <p:cNvSpPr/>
          <p:nvPr/>
        </p:nvSpPr>
        <p:spPr>
          <a:xfrm>
            <a:off x="4206240" y="1755648"/>
            <a:ext cx="475488" cy="475488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Text 28"/>
          <p:cNvSpPr/>
          <p:nvPr/>
        </p:nvSpPr>
        <p:spPr>
          <a:xfrm>
            <a:off x="4773168" y="17282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вариаций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681728" y="19892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и цвет — цена и остаток обновляются динамически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Shape 30"/>
          <p:cNvSpPr/>
          <p:nvPr/>
        </p:nvSpPr>
        <p:spPr>
          <a:xfrm>
            <a:off x="4069080" y="2414016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6" name="Shape 31"/>
          <p:cNvSpPr/>
          <p:nvPr/>
        </p:nvSpPr>
        <p:spPr>
          <a:xfrm>
            <a:off x="4069080" y="2414016"/>
            <a:ext cx="73152" cy="65836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Shape 32"/>
          <p:cNvSpPr/>
          <p:nvPr/>
        </p:nvSpPr>
        <p:spPr>
          <a:xfrm>
            <a:off x="4206240" y="2505456"/>
            <a:ext cx="475488" cy="475488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9" name="Text 33"/>
          <p:cNvSpPr/>
          <p:nvPr/>
        </p:nvSpPr>
        <p:spPr>
          <a:xfrm>
            <a:off x="4773168" y="24780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и Избранное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681728" y="2720063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Быстрое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оплата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Shape 35"/>
          <p:cNvSpPr/>
          <p:nvPr/>
        </p:nvSpPr>
        <p:spPr>
          <a:xfrm>
            <a:off x="4069080" y="3163824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2" name="Shape 36"/>
          <p:cNvSpPr/>
          <p:nvPr/>
        </p:nvSpPr>
        <p:spPr>
          <a:xfrm>
            <a:off x="4069080" y="3163824"/>
            <a:ext cx="73152" cy="65836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3" name="Shape 37"/>
          <p:cNvSpPr/>
          <p:nvPr/>
        </p:nvSpPr>
        <p:spPr>
          <a:xfrm>
            <a:off x="4206240" y="3255264"/>
            <a:ext cx="475488" cy="475488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Text 38"/>
          <p:cNvSpPr/>
          <p:nvPr/>
        </p:nvSpPr>
        <p:spPr>
          <a:xfrm>
            <a:off x="4773168" y="3227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 и рейтинги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4681728" y="34884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ейтинг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шкале до 5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текст, ответы продавца на отзывы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Shape 40"/>
          <p:cNvSpPr/>
          <p:nvPr/>
        </p:nvSpPr>
        <p:spPr>
          <a:xfrm>
            <a:off x="4069080" y="3913632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8" name="Shape 41"/>
          <p:cNvSpPr/>
          <p:nvPr/>
        </p:nvSpPr>
        <p:spPr>
          <a:xfrm>
            <a:off x="4069080" y="3913632"/>
            <a:ext cx="73152" cy="65836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9" name="Shape 42"/>
          <p:cNvSpPr/>
          <p:nvPr/>
        </p:nvSpPr>
        <p:spPr>
          <a:xfrm>
            <a:off x="4206240" y="4005072"/>
            <a:ext cx="475488" cy="475488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1" name="Text 43"/>
          <p:cNvSpPr/>
          <p:nvPr/>
        </p:nvSpPr>
        <p:spPr>
          <a:xfrm>
            <a:off x="4773168" y="3977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Похожие товары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4681728" y="42336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«С этим покупают» и персонализированные рекомендации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754B63-B41A-5C8C-59E7-9CB8CC0FF7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6" t="6993" r="16363" b="18400"/>
          <a:stretch>
            <a:fillRect/>
          </a:stretch>
        </p:blipFill>
        <p:spPr bwMode="auto">
          <a:xfrm>
            <a:off x="1188720" y="1073727"/>
            <a:ext cx="1554480" cy="173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FEEACD5-9644-3556-1908-2FEFBD846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95" y="2935806"/>
            <a:ext cx="435033" cy="648642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C6528DB0-084F-9393-7A0A-4D908912A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032" y="2922729"/>
            <a:ext cx="445584" cy="666153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51B4DAE-2B48-EB87-0DD7-30C16F34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81" y="1847088"/>
            <a:ext cx="292608" cy="292608"/>
          </a:xfrm>
          <a:prstGeom prst="rect">
            <a:avLst/>
          </a:prstGeom>
        </p:spPr>
      </p:pic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550601D8-A293-FD6D-F9AA-D38501C2F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95" y="2596896"/>
            <a:ext cx="292608" cy="292608"/>
          </a:xfrm>
          <a:prstGeom prst="rect">
            <a:avLst/>
          </a:prstGeom>
        </p:spPr>
      </p:pic>
      <p:pic>
        <p:nvPicPr>
          <p:cNvPr id="56" name="Image 1" descr="preencoded.png">
            <a:extLst>
              <a:ext uri="{FF2B5EF4-FFF2-40B4-BE49-F238E27FC236}">
                <a16:creationId xmlns:a16="http://schemas.microsoft.com/office/drawing/2014/main" id="{06D16927-6BA7-480E-DB4D-9944E1DE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81" y="3337560"/>
            <a:ext cx="292608" cy="292608"/>
          </a:xfrm>
          <a:prstGeom prst="rect">
            <a:avLst/>
          </a:prstGeom>
        </p:spPr>
      </p:pic>
      <p:pic>
        <p:nvPicPr>
          <p:cNvPr id="57" name="Image 1" descr="preencoded.png">
            <a:extLst>
              <a:ext uri="{FF2B5EF4-FFF2-40B4-BE49-F238E27FC236}">
                <a16:creationId xmlns:a16="http://schemas.microsoft.com/office/drawing/2014/main" id="{31E62A6B-E052-35C0-A516-84611F4E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81" y="4087368"/>
            <a:ext cx="292608" cy="292608"/>
          </a:xfrm>
          <a:prstGeom prst="rect">
            <a:avLst/>
          </a:prstGeom>
        </p:spPr>
      </p:pic>
      <p:sp>
        <p:nvSpPr>
          <p:cNvPr id="58" name="Shape 1">
            <a:extLst>
              <a:ext uri="{FF2B5EF4-FFF2-40B4-BE49-F238E27FC236}">
                <a16:creationId xmlns:a16="http://schemas.microsoft.com/office/drawing/2014/main" id="{9E45BF63-4FB1-D534-09E4-0726F6D61B0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ЛЕНТА РЕКОМЕНДАЦИЙ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8769" y="1554480"/>
            <a:ext cx="3782274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898769" y="1554480"/>
            <a:ext cx="3782274" cy="67149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1019785" y="1700785"/>
            <a:ext cx="413079" cy="386637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82" y="1782522"/>
            <a:ext cx="212883" cy="2128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49401" y="1755825"/>
            <a:ext cx="3066710" cy="289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персонализации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19166" y="2340864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Text 9"/>
          <p:cNvSpPr/>
          <p:nvPr/>
        </p:nvSpPr>
        <p:spPr>
          <a:xfrm>
            <a:off x="1205300" y="2304287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просмотров товаров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44118" y="2238835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/>
          <p:nvPr/>
        </p:nvSpPr>
        <p:spPr>
          <a:xfrm>
            <a:off x="2922735" y="2185567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покупок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19166" y="2707999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Text 13"/>
          <p:cNvSpPr/>
          <p:nvPr/>
        </p:nvSpPr>
        <p:spPr>
          <a:xfrm>
            <a:off x="1205300" y="2658532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 и корзина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36601" y="2606150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5"/>
          <p:cNvSpPr/>
          <p:nvPr/>
        </p:nvSpPr>
        <p:spPr>
          <a:xfrm>
            <a:off x="2922735" y="2547264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Интерес к клубу / лиге / категории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19166" y="3072320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Text 17"/>
          <p:cNvSpPr/>
          <p:nvPr/>
        </p:nvSpPr>
        <p:spPr>
          <a:xfrm>
            <a:off x="1220459" y="3020624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Нейтральный мерч ФНЛ в приоритете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735962" y="3028209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2" name="Text 19"/>
          <p:cNvSpPr/>
          <p:nvPr/>
        </p:nvSpPr>
        <p:spPr>
          <a:xfrm>
            <a:off x="2922735" y="2950358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товары в наличии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4719" y="3432478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Text 21"/>
          <p:cNvSpPr/>
          <p:nvPr/>
        </p:nvSpPr>
        <p:spPr>
          <a:xfrm>
            <a:off x="1220459" y="3398743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Популярность у схожих пользователей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744173" y="3456696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Text 23"/>
          <p:cNvSpPr/>
          <p:nvPr/>
        </p:nvSpPr>
        <p:spPr>
          <a:xfrm>
            <a:off x="2922735" y="3398743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Разнообразие — без повторений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34719" y="3788627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5"/>
          <p:cNvSpPr/>
          <p:nvPr/>
        </p:nvSpPr>
        <p:spPr>
          <a:xfrm>
            <a:off x="1218917" y="3755561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новых: популярное + новинки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735962" y="3877415"/>
            <a:ext cx="95409" cy="106716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7"/>
          <p:cNvSpPr/>
          <p:nvPr/>
        </p:nvSpPr>
        <p:spPr>
          <a:xfrm>
            <a:off x="2922735" y="3818709"/>
            <a:ext cx="1669652" cy="243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по последним действиям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285376" y="1263355"/>
            <a:ext cx="2823905" cy="1191913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2" name="Shape 29"/>
          <p:cNvSpPr/>
          <p:nvPr/>
        </p:nvSpPr>
        <p:spPr>
          <a:xfrm>
            <a:off x="5285376" y="1263357"/>
            <a:ext cx="2823905" cy="8126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3" name="Shape 30"/>
          <p:cNvSpPr/>
          <p:nvPr/>
        </p:nvSpPr>
        <p:spPr>
          <a:xfrm>
            <a:off x="5418174" y="1427948"/>
            <a:ext cx="418526" cy="430113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272" y="1473669"/>
            <a:ext cx="329631" cy="329631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953236" y="1337508"/>
            <a:ext cx="2059423" cy="350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Бесконечная прокрутка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869728" y="1628075"/>
            <a:ext cx="2226438" cy="553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товаров при загрузке + по 10 при скролле вниз. Плавная подгрузка без перехода между страницами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Shape 33"/>
          <p:cNvSpPr/>
          <p:nvPr/>
        </p:nvSpPr>
        <p:spPr>
          <a:xfrm>
            <a:off x="5285376" y="2452076"/>
            <a:ext cx="2823905" cy="10884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8" name="Shape 34"/>
          <p:cNvSpPr/>
          <p:nvPr/>
        </p:nvSpPr>
        <p:spPr>
          <a:xfrm>
            <a:off x="5285376" y="2452077"/>
            <a:ext cx="2823905" cy="812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9" name="Shape 35"/>
          <p:cNvSpPr/>
          <p:nvPr/>
        </p:nvSpPr>
        <p:spPr>
          <a:xfrm>
            <a:off x="5418256" y="2616669"/>
            <a:ext cx="438360" cy="470929"/>
          </a:xfrm>
          <a:prstGeom prst="ellipse">
            <a:avLst/>
          </a:prstGeom>
          <a:solidFill>
            <a:schemeClr val="bg1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057" y="2664562"/>
            <a:ext cx="356062" cy="35606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953237" y="2528149"/>
            <a:ext cx="2059423" cy="350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Метки рекомендаций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5885234" y="2814715"/>
            <a:ext cx="2170771" cy="589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«Похожие товары», «Популярно у поклонников клуба», «Вы 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давно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смотрели»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Shape 38"/>
          <p:cNvSpPr/>
          <p:nvPr/>
        </p:nvSpPr>
        <p:spPr>
          <a:xfrm>
            <a:off x="5285376" y="3640796"/>
            <a:ext cx="2823905" cy="1088481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4" name="Shape 39"/>
          <p:cNvSpPr/>
          <p:nvPr/>
        </p:nvSpPr>
        <p:spPr>
          <a:xfrm>
            <a:off x="5285376" y="3635663"/>
            <a:ext cx="2823905" cy="8126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5" name="Shape 40"/>
          <p:cNvSpPr/>
          <p:nvPr/>
        </p:nvSpPr>
        <p:spPr>
          <a:xfrm>
            <a:off x="5378578" y="3815840"/>
            <a:ext cx="470159" cy="4517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747" y="3866711"/>
            <a:ext cx="349977" cy="349977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5953237" y="3701952"/>
            <a:ext cx="2317226" cy="350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рекомендаций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5885234" y="4006645"/>
            <a:ext cx="2059423" cy="553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Обновляются при каждом визите на основе последних действий пользователя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F0C64C3-90B9-B25F-7C34-D43228B1E92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62358" y="4148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КОРЗИНА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7766" y="685800"/>
            <a:ext cx="4493065" cy="90932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297766" y="685800"/>
            <a:ext cx="65953" cy="90932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462358" y="832104"/>
            <a:ext cx="511138" cy="469815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16" y="946534"/>
            <a:ext cx="265089" cy="2650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7302" y="741045"/>
            <a:ext cx="3619184" cy="28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и управление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88382" y="1079079"/>
            <a:ext cx="3619184" cy="439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товаров: изображение, название, цена за ед., кол-во, сумма. Итоговая сумма внизу. Пустая корзина → предложение перейти в каталог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7766" y="1920240"/>
            <a:ext cx="4493065" cy="90932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9"/>
          <p:cNvSpPr/>
          <p:nvPr/>
        </p:nvSpPr>
        <p:spPr>
          <a:xfrm>
            <a:off x="297766" y="1920240"/>
            <a:ext cx="65953" cy="90932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462358" y="2066544"/>
            <a:ext cx="511138" cy="469815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89" y="2141766"/>
            <a:ext cx="318250" cy="31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7302" y="2029968"/>
            <a:ext cx="3619184" cy="28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кол-ва и удаление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72135" y="2339171"/>
            <a:ext cx="3619184" cy="439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±1 рядом с каждым товаром (от 1 до max доступного). Сумма пересчитывается автоматически. Крестик — удалить товар, «Очистить» — всю корзину с подтверждением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97766" y="3154680"/>
            <a:ext cx="4493065" cy="90932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Shape 14"/>
          <p:cNvSpPr/>
          <p:nvPr/>
        </p:nvSpPr>
        <p:spPr>
          <a:xfrm>
            <a:off x="297766" y="3154680"/>
            <a:ext cx="65953" cy="90932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462358" y="3300984"/>
            <a:ext cx="511138" cy="469815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89" y="3387054"/>
            <a:ext cx="318250" cy="3182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1647" y="3209714"/>
            <a:ext cx="3619184" cy="287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оформлению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081768" y="3520499"/>
            <a:ext cx="3619184" cy="4395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«Оформить заказ» → форма с адресом доставки, способом доставки, контактами. Без авторизации — редирект на вход с возвратом к заказу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2414" y="685799"/>
            <a:ext cx="3075070" cy="2911935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Shape 19"/>
          <p:cNvSpPr/>
          <p:nvPr/>
        </p:nvSpPr>
        <p:spPr>
          <a:xfrm>
            <a:off x="5482414" y="685800"/>
            <a:ext cx="3075070" cy="5304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0"/>
          <p:cNvSpPr/>
          <p:nvPr/>
        </p:nvSpPr>
        <p:spPr>
          <a:xfrm>
            <a:off x="5619574" y="832104"/>
            <a:ext cx="511138" cy="469815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014" y="902715"/>
            <a:ext cx="325818" cy="32581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75613" y="867094"/>
            <a:ext cx="2225922" cy="378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по продавцам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619574" y="1490472"/>
            <a:ext cx="2902578" cy="848699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9" name="Shape 23"/>
          <p:cNvSpPr/>
          <p:nvPr/>
        </p:nvSpPr>
        <p:spPr>
          <a:xfrm>
            <a:off x="5619574" y="1490472"/>
            <a:ext cx="2881961" cy="45719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Text 24"/>
          <p:cNvSpPr/>
          <p:nvPr/>
        </p:nvSpPr>
        <p:spPr>
          <a:xfrm>
            <a:off x="5711014" y="1581912"/>
            <a:ext cx="2638130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ФК </a:t>
            </a:r>
            <a:r>
              <a:rPr lang="ru-RU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Факел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5711014" y="1874520"/>
            <a:ext cx="1813714" cy="212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Футболка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 26"/>
          <p:cNvSpPr/>
          <p:nvPr/>
        </p:nvSpPr>
        <p:spPr>
          <a:xfrm>
            <a:off x="7594678" y="1837944"/>
            <a:ext cx="906857" cy="265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3 980 ₽</a:t>
            </a:r>
            <a:endParaRPr lang="en-US" sz="1300" dirty="0">
              <a:solidFill>
                <a:srgbClr val="00C675"/>
              </a:solidFill>
            </a:endParaRPr>
          </a:p>
        </p:txBody>
      </p:sp>
      <p:sp>
        <p:nvSpPr>
          <p:cNvPr id="33" name="Shape 27"/>
          <p:cNvSpPr/>
          <p:nvPr/>
        </p:nvSpPr>
        <p:spPr>
          <a:xfrm>
            <a:off x="5619574" y="2514600"/>
            <a:ext cx="2819501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4" name="Shape 28"/>
          <p:cNvSpPr/>
          <p:nvPr/>
        </p:nvSpPr>
        <p:spPr>
          <a:xfrm>
            <a:off x="5619574" y="2697480"/>
            <a:ext cx="2902578" cy="848699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5" name="Shape 29"/>
          <p:cNvSpPr/>
          <p:nvPr/>
        </p:nvSpPr>
        <p:spPr>
          <a:xfrm>
            <a:off x="5619574" y="2697480"/>
            <a:ext cx="2881961" cy="45719"/>
          </a:xfrm>
          <a:prstGeom prst="rect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6" name="Text 30"/>
          <p:cNvSpPr/>
          <p:nvPr/>
        </p:nvSpPr>
        <p:spPr>
          <a:xfrm>
            <a:off x="5711014" y="2788920"/>
            <a:ext cx="2638130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ФК Ротор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711014" y="3081528"/>
            <a:ext cx="1813714" cy="212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Кепка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Text 32"/>
          <p:cNvSpPr/>
          <p:nvPr/>
        </p:nvSpPr>
        <p:spPr>
          <a:xfrm>
            <a:off x="7594678" y="3044952"/>
            <a:ext cx="906857" cy="265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C67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2 490 ₽</a:t>
            </a:r>
            <a:endParaRPr lang="en-US" sz="1300" dirty="0">
              <a:solidFill>
                <a:srgbClr val="00C675"/>
              </a:solidFill>
            </a:endParaRPr>
          </a:p>
        </p:txBody>
      </p:sp>
      <p:sp>
        <p:nvSpPr>
          <p:cNvPr id="39" name="Shape 33"/>
          <p:cNvSpPr/>
          <p:nvPr/>
        </p:nvSpPr>
        <p:spPr>
          <a:xfrm>
            <a:off x="5619574" y="3721608"/>
            <a:ext cx="2819501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0" name="Shape 34"/>
          <p:cNvSpPr/>
          <p:nvPr/>
        </p:nvSpPr>
        <p:spPr>
          <a:xfrm>
            <a:off x="5619574" y="3904488"/>
            <a:ext cx="2819501" cy="469815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1" name="Text 35"/>
          <p:cNvSpPr/>
          <p:nvPr/>
        </p:nvSpPr>
        <p:spPr>
          <a:xfrm>
            <a:off x="5711014" y="3977640"/>
            <a:ext cx="824416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Итого: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643702" y="3941064"/>
            <a:ext cx="1813714" cy="333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6 470 ₽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ЛИЧНЫЙ КАБИНЕТ ПОКУПАТЕЛЯ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900367" cy="111064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9899" cy="111064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484632" y="832104"/>
            <a:ext cx="386716" cy="386854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12" y="860982"/>
            <a:ext cx="311979" cy="31197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7847" y="808330"/>
            <a:ext cx="2239208" cy="23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и редактирование профиля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1515" y="1105467"/>
            <a:ext cx="2239208" cy="723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фамилия, email, клуб, пароль. Кнопка «Изменить профиль» → форма редактирования → сохранение с подтверждением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57567" y="705811"/>
            <a:ext cx="2900367" cy="111064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9"/>
          <p:cNvSpPr/>
          <p:nvPr/>
        </p:nvSpPr>
        <p:spPr>
          <a:xfrm>
            <a:off x="3357567" y="705811"/>
            <a:ext cx="49899" cy="1110644"/>
          </a:xfrm>
          <a:prstGeom prst="rect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3522159" y="852115"/>
            <a:ext cx="386716" cy="386854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023" y="897835"/>
            <a:ext cx="311979" cy="31197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11923" y="808330"/>
            <a:ext cx="2239208" cy="23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заказов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028239" y="1053828"/>
            <a:ext cx="2239208" cy="723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всех заказов по дате (новые первые). Номер, дата, статус, сумма. Подробности по клику: состав, доставка, оплата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2016428"/>
            <a:ext cx="2900367" cy="111064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Shape 14"/>
          <p:cNvSpPr/>
          <p:nvPr/>
        </p:nvSpPr>
        <p:spPr>
          <a:xfrm>
            <a:off x="320040" y="2016428"/>
            <a:ext cx="49899" cy="111064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484632" y="2162732"/>
            <a:ext cx="386716" cy="386854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208452"/>
            <a:ext cx="311979" cy="31197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7657" y="2140248"/>
            <a:ext cx="2239208" cy="23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Избранное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61325" y="2370251"/>
            <a:ext cx="2239208" cy="723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в раздел «Избранное» с полным списком добавленных товаров прямо из кабинета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327045"/>
            <a:ext cx="2900367" cy="1110644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Shape 19"/>
          <p:cNvSpPr/>
          <p:nvPr/>
        </p:nvSpPr>
        <p:spPr>
          <a:xfrm>
            <a:off x="320040" y="3327045"/>
            <a:ext cx="49899" cy="1110644"/>
          </a:xfrm>
          <a:prstGeom prst="rect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0"/>
          <p:cNvSpPr/>
          <p:nvPr/>
        </p:nvSpPr>
        <p:spPr>
          <a:xfrm>
            <a:off x="484632" y="3473349"/>
            <a:ext cx="386716" cy="386854"/>
          </a:xfrm>
          <a:prstGeom prst="ellipse">
            <a:avLst/>
          </a:prstGeom>
          <a:solidFill>
            <a:srgbClr val="00C675"/>
          </a:solidFill>
          <a:ln w="12700">
            <a:solidFill>
              <a:srgbClr val="2DA090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519069"/>
            <a:ext cx="311979" cy="31197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91136" y="3398044"/>
            <a:ext cx="2239208" cy="237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и удаление аккаунта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31300" y="3638036"/>
            <a:ext cx="2239208" cy="723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«Выйти из аккаунта» — мгновенный выход. «Удалить аккаунт» — в данных профиля, в конце страницы, с подтверждением</a:t>
            </a:r>
            <a:endParaRPr lang="en-US" sz="950" dirty="0"/>
          </a:p>
        </p:txBody>
      </p:sp>
      <p:pic>
        <p:nvPicPr>
          <p:cNvPr id="32" name="Рисунок 31" descr="Изображение выглядит как текст, че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680B04-C31B-7168-38C2-5643065D3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194" y="2016428"/>
            <a:ext cx="5264309" cy="3129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Административная панель — управление всей платформой без разработчиков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411480" y="1335024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335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товарами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редактирование, снятие. Массовые операции с ценами и остатками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70432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2" name="Shape 9"/>
          <p:cNvSpPr/>
          <p:nvPr/>
        </p:nvSpPr>
        <p:spPr>
          <a:xfrm>
            <a:off x="3246120" y="1170432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3383280" y="1335024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335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продавцами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83280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</a:t>
            </a:r>
            <a:r>
              <a:rPr lang="en-US" sz="100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аккаунтов</a:t>
            </a: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персонала </a:t>
            </a:r>
            <a:r>
              <a:rPr lang="en-US" sz="100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клубов</a:t>
            </a: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настройка прав, просмотр их активности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170432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Shape 14"/>
          <p:cNvSpPr/>
          <p:nvPr/>
        </p:nvSpPr>
        <p:spPr>
          <a:xfrm>
            <a:off x="6217920" y="1170432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6355080" y="1335024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13350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главной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55080" y="2011680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Баннеры, акции, рекламные блоки — редактируются без кода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74320" y="3072384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4" name="Shape 19"/>
          <p:cNvSpPr/>
          <p:nvPr/>
        </p:nvSpPr>
        <p:spPr>
          <a:xfrm>
            <a:off x="274320" y="3072384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5" name="Shape 20"/>
          <p:cNvSpPr/>
          <p:nvPr/>
        </p:nvSpPr>
        <p:spPr>
          <a:xfrm>
            <a:off x="411480" y="3236976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3552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и отчёты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11480" y="3913632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Продажи, активность, топ товаров и клубов в одном дашборде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3072384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0" name="Shape 24"/>
          <p:cNvSpPr/>
          <p:nvPr/>
        </p:nvSpPr>
        <p:spPr>
          <a:xfrm>
            <a:off x="3246120" y="3072384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1" name="Shape 25"/>
          <p:cNvSpPr/>
          <p:nvPr/>
        </p:nvSpPr>
        <p:spPr>
          <a:xfrm>
            <a:off x="3383280" y="3236976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273552"/>
            <a:ext cx="475488" cy="4754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и Push-рассылки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383280" y="3913632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Сценарии: брошенная корзина, акции, новые поступления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17920" y="3072384"/>
            <a:ext cx="2816352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6" name="Shape 29"/>
          <p:cNvSpPr/>
          <p:nvPr/>
        </p:nvSpPr>
        <p:spPr>
          <a:xfrm>
            <a:off x="6217920" y="3072384"/>
            <a:ext cx="2816352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Shape 30"/>
          <p:cNvSpPr/>
          <p:nvPr/>
        </p:nvSpPr>
        <p:spPr>
          <a:xfrm>
            <a:off x="6355080" y="3236976"/>
            <a:ext cx="566928" cy="566928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73552"/>
            <a:ext cx="475488" cy="4754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4088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55080" y="3913632"/>
            <a:ext cx="2542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для 1С, Битрикс CRM, </a:t>
            </a:r>
            <a:r>
              <a:rPr lang="en-US" sz="100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</a:t>
            </a:r>
            <a:r>
              <a:rPr lang="en-US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эквайринг</a:t>
            </a:r>
            <a:r>
              <a:rPr lang="ru-RU" sz="100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ВОЗМОЖНОСТИ ПЛАТФОРМЫ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Фишки, которые делают маркетплейс удобным для болельщиков и клубов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20299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Shape 6"/>
          <p:cNvSpPr/>
          <p:nvPr/>
        </p:nvSpPr>
        <p:spPr>
          <a:xfrm>
            <a:off x="338328" y="1389888"/>
            <a:ext cx="530352" cy="53035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1975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Мерч по клубам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340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«Выбрать клуб» — весь товар команды в один клик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423160" y="1261872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3" name="Shape 10"/>
          <p:cNvSpPr/>
          <p:nvPr/>
        </p:nvSpPr>
        <p:spPr>
          <a:xfrm>
            <a:off x="2423160" y="1261872"/>
            <a:ext cx="2029968" cy="640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4" name="Shape 11"/>
          <p:cNvSpPr/>
          <p:nvPr/>
        </p:nvSpPr>
        <p:spPr>
          <a:xfrm>
            <a:off x="2532888" y="1389888"/>
            <a:ext cx="530352" cy="530352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42646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1975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поиск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14600" y="2340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результатов по релевантности запросу, поиск по ключевым словам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617720" y="1261872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19" name="Shape 15"/>
          <p:cNvSpPr/>
          <p:nvPr/>
        </p:nvSpPr>
        <p:spPr>
          <a:xfrm>
            <a:off x="4617720" y="1261872"/>
            <a:ext cx="20299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0" name="Shape 16"/>
          <p:cNvSpPr/>
          <p:nvPr/>
        </p:nvSpPr>
        <p:spPr>
          <a:xfrm>
            <a:off x="4727448" y="1389888"/>
            <a:ext cx="530352" cy="53035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42646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1975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Вишлист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709160" y="2340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избранного с возможностью поделиться ссылкой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812280" y="1261872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25" name="Shape 20"/>
          <p:cNvSpPr/>
          <p:nvPr/>
        </p:nvSpPr>
        <p:spPr>
          <a:xfrm>
            <a:off x="6812280" y="1261872"/>
            <a:ext cx="2029968" cy="640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Shape 21"/>
          <p:cNvSpPr/>
          <p:nvPr/>
        </p:nvSpPr>
        <p:spPr>
          <a:xfrm>
            <a:off x="6922008" y="1389888"/>
            <a:ext cx="530352" cy="530352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42646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03720" y="1975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Мультипродавец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03720" y="234086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заказ — несколько клубов, корзина делится автоматически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Shape 24"/>
          <p:cNvSpPr/>
          <p:nvPr/>
        </p:nvSpPr>
        <p:spPr>
          <a:xfrm>
            <a:off x="228600" y="310896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1" name="Shape 25"/>
          <p:cNvSpPr/>
          <p:nvPr/>
        </p:nvSpPr>
        <p:spPr>
          <a:xfrm>
            <a:off x="228600" y="3108960"/>
            <a:ext cx="20299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2" name="Shape 26"/>
          <p:cNvSpPr/>
          <p:nvPr/>
        </p:nvSpPr>
        <p:spPr>
          <a:xfrm>
            <a:off x="338328" y="3236976"/>
            <a:ext cx="530352" cy="53035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273552"/>
            <a:ext cx="438912" cy="43891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004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Отслеживание заказа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320040" y="41879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 в 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реальном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</a:t>
            </a: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личном кабинете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Shape 29"/>
          <p:cNvSpPr/>
          <p:nvPr/>
        </p:nvSpPr>
        <p:spPr>
          <a:xfrm>
            <a:off x="2423160" y="310896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37" name="Shape 30"/>
          <p:cNvSpPr/>
          <p:nvPr/>
        </p:nvSpPr>
        <p:spPr>
          <a:xfrm>
            <a:off x="2423160" y="3108960"/>
            <a:ext cx="2029968" cy="640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Shape 31"/>
          <p:cNvSpPr/>
          <p:nvPr/>
        </p:nvSpPr>
        <p:spPr>
          <a:xfrm>
            <a:off x="2532888" y="3236976"/>
            <a:ext cx="530352" cy="530352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273552"/>
            <a:ext cx="438912" cy="4389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251460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 с ответами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2514600" y="41879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 отвечает на каждый отзыв — доверие растёт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Shape 34"/>
          <p:cNvSpPr/>
          <p:nvPr/>
        </p:nvSpPr>
        <p:spPr>
          <a:xfrm>
            <a:off x="4617720" y="310896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3" name="Shape 35"/>
          <p:cNvSpPr/>
          <p:nvPr/>
        </p:nvSpPr>
        <p:spPr>
          <a:xfrm>
            <a:off x="4617720" y="3108960"/>
            <a:ext cx="20299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4" name="Shape 36"/>
          <p:cNvSpPr/>
          <p:nvPr/>
        </p:nvSpPr>
        <p:spPr>
          <a:xfrm>
            <a:off x="4727448" y="3236976"/>
            <a:ext cx="530352" cy="530352"/>
          </a:xfrm>
          <a:prstGeom prst="ellipse">
            <a:avLst/>
          </a:prstGeom>
          <a:solidFill>
            <a:srgbClr val="D0F2EE"/>
          </a:solidFill>
          <a:ln w="12700">
            <a:solidFill>
              <a:srgbClr val="D0F2E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273552"/>
            <a:ext cx="438912" cy="43891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70916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Push-уведомления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4709160" y="41879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Брошенная корзина, акции, статус доставки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Shape 39"/>
          <p:cNvSpPr/>
          <p:nvPr/>
        </p:nvSpPr>
        <p:spPr>
          <a:xfrm>
            <a:off x="6812280" y="3108960"/>
            <a:ext cx="20299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F2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US"/>
          </a:p>
        </p:txBody>
      </p:sp>
      <p:sp>
        <p:nvSpPr>
          <p:cNvPr id="49" name="Shape 40"/>
          <p:cNvSpPr/>
          <p:nvPr/>
        </p:nvSpPr>
        <p:spPr>
          <a:xfrm>
            <a:off x="6812280" y="3108960"/>
            <a:ext cx="2029968" cy="6400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50" name="Shape 41"/>
          <p:cNvSpPr/>
          <p:nvPr/>
        </p:nvSpPr>
        <p:spPr>
          <a:xfrm>
            <a:off x="6922008" y="3236976"/>
            <a:ext cx="530352" cy="530352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273552"/>
            <a:ext cx="438912" cy="438912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903720" y="38221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продавца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6903720" y="418795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Выручка, топ товаров, активность — всё в кабинете клуба</a:t>
            </a:r>
            <a:endParaRPr lang="en-US" sz="9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5575A939-D59F-73E5-77FD-01EFE8F45B1E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ПУТЬ ПОКУПАТЕЛЯ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2694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первого визита до </a:t>
            </a:r>
            <a:r>
              <a:rPr lang="en-US" sz="13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повторной</a:t>
            </a: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покупки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572768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15727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7" name="Shape 5"/>
          <p:cNvSpPr/>
          <p:nvPr/>
        </p:nvSpPr>
        <p:spPr>
          <a:xfrm>
            <a:off x="740664" y="1463040"/>
            <a:ext cx="731520" cy="7315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8" name="Text 6"/>
          <p:cNvSpPr/>
          <p:nvPr/>
        </p:nvSpPr>
        <p:spPr>
          <a:xfrm>
            <a:off x="740664" y="1481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80731" y="24688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Заходит на платформу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0731" y="308152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Баннеры, акции, </a:t>
            </a:r>
            <a:r>
              <a:rPr lang="en-US" sz="95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популярные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мерч любимой команды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94967" y="2637409"/>
            <a:ext cx="96012" cy="0"/>
          </a:xfrm>
          <a:prstGeom prst="line">
            <a:avLst/>
          </a:prstGeom>
          <a:noFill/>
          <a:ln w="19050">
            <a:solidFill>
              <a:srgbClr val="49C5B1"/>
            </a:solidFill>
            <a:prstDash val="sysDot"/>
          </a:ln>
        </p:spPr>
        <p:txBody>
          <a:bodyPr/>
          <a:lstStyle/>
          <a:p>
            <a:endParaRPr lang="ru-US"/>
          </a:p>
        </p:txBody>
      </p:sp>
      <p:sp>
        <p:nvSpPr>
          <p:cNvPr id="14" name="Text 11"/>
          <p:cNvSpPr/>
          <p:nvPr/>
        </p:nvSpPr>
        <p:spPr>
          <a:xfrm>
            <a:off x="1929384" y="2478023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9C5B1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052828" y="1261872"/>
            <a:ext cx="1572768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6" name="Shape 13"/>
          <p:cNvSpPr/>
          <p:nvPr/>
        </p:nvSpPr>
        <p:spPr>
          <a:xfrm>
            <a:off x="2052828" y="1261872"/>
            <a:ext cx="15727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7" name="Shape 14"/>
          <p:cNvSpPr/>
          <p:nvPr/>
        </p:nvSpPr>
        <p:spPr>
          <a:xfrm>
            <a:off x="2473452" y="1463040"/>
            <a:ext cx="731520" cy="7315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18" name="Text 15"/>
          <p:cNvSpPr/>
          <p:nvPr/>
        </p:nvSpPr>
        <p:spPr>
          <a:xfrm>
            <a:off x="2473452" y="1481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2113519" y="24688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u-RU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Выбирает товар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113519" y="3081528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</a:t>
            </a:r>
            <a:r>
              <a:rPr lang="en-US" sz="95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маркетплейсу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поиск и фильтры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632454" y="24780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785616" y="1261872"/>
            <a:ext cx="1572768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6" name="Shape 22"/>
          <p:cNvSpPr/>
          <p:nvPr/>
        </p:nvSpPr>
        <p:spPr>
          <a:xfrm>
            <a:off x="3785616" y="1261872"/>
            <a:ext cx="15727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7" name="Shape 23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28" name="Text 24"/>
          <p:cNvSpPr/>
          <p:nvPr/>
        </p:nvSpPr>
        <p:spPr>
          <a:xfrm>
            <a:off x="4206240" y="1481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3846307" y="24688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Изучает карточку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3846307" y="3081528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размеры, 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365242" y="24780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5518404" y="1261872"/>
            <a:ext cx="1572768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6" name="Shape 31"/>
          <p:cNvSpPr/>
          <p:nvPr/>
        </p:nvSpPr>
        <p:spPr>
          <a:xfrm>
            <a:off x="5518404" y="1261872"/>
            <a:ext cx="15727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7" name="Shape 32"/>
          <p:cNvSpPr/>
          <p:nvPr/>
        </p:nvSpPr>
        <p:spPr>
          <a:xfrm>
            <a:off x="5939028" y="1463040"/>
            <a:ext cx="731520" cy="7315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38" name="Text 33"/>
          <p:cNvSpPr/>
          <p:nvPr/>
        </p:nvSpPr>
        <p:spPr>
          <a:xfrm>
            <a:off x="5939028" y="1481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5"/>
          <p:cNvSpPr/>
          <p:nvPr/>
        </p:nvSpPr>
        <p:spPr>
          <a:xfrm>
            <a:off x="5579095" y="24688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Оформляет заказ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579095" y="3081528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Корзина, 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</a:t>
            </a:r>
            <a:r>
              <a:rPr lang="en-US" sz="950" dirty="0" err="1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ru-RU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возможность рассрочки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7098030" y="24780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7251192" y="1261872"/>
            <a:ext cx="1572768" cy="3566160"/>
          </a:xfrm>
          <a:prstGeom prst="rect">
            <a:avLst/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6" name="Shape 40"/>
          <p:cNvSpPr/>
          <p:nvPr/>
        </p:nvSpPr>
        <p:spPr>
          <a:xfrm>
            <a:off x="7251192" y="1261872"/>
            <a:ext cx="1572768" cy="64008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7" name="Shape 41"/>
          <p:cNvSpPr/>
          <p:nvPr/>
        </p:nvSpPr>
        <p:spPr>
          <a:xfrm>
            <a:off x="7671816" y="1463040"/>
            <a:ext cx="731520" cy="731520"/>
          </a:xfrm>
          <a:prstGeom prst="ellipse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48" name="Text 42"/>
          <p:cNvSpPr/>
          <p:nvPr/>
        </p:nvSpPr>
        <p:spPr>
          <a:xfrm>
            <a:off x="7671816" y="148132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51" name="Text 44"/>
          <p:cNvSpPr/>
          <p:nvPr/>
        </p:nvSpPr>
        <p:spPr>
          <a:xfrm>
            <a:off x="7311883" y="246888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Возвращается снова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7311883" y="3081528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C4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о новой коллекции → повторный заказ</a:t>
            </a:r>
            <a:endParaRPr lang="en-US" sz="95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7939B19C-65F7-96F9-27E3-D21F958C70AD}"/>
              </a:ext>
            </a:extLst>
          </p:cNvPr>
          <p:cNvSpPr/>
          <p:nvPr/>
        </p:nvSpPr>
        <p:spPr>
          <a:xfrm>
            <a:off x="3630168" y="2692274"/>
            <a:ext cx="96012" cy="0"/>
          </a:xfrm>
          <a:prstGeom prst="line">
            <a:avLst/>
          </a:prstGeom>
          <a:noFill/>
          <a:ln w="19050">
            <a:solidFill>
              <a:srgbClr val="49C5B1"/>
            </a:solidFill>
            <a:prstDash val="sysDot"/>
          </a:ln>
        </p:spPr>
        <p:txBody>
          <a:bodyPr/>
          <a:lstStyle/>
          <a:p>
            <a:endParaRPr lang="ru-US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3CF4EE9B-8B6A-BD92-E38F-B779DCD01572}"/>
              </a:ext>
            </a:extLst>
          </p:cNvPr>
          <p:cNvSpPr/>
          <p:nvPr/>
        </p:nvSpPr>
        <p:spPr>
          <a:xfrm>
            <a:off x="3664585" y="25328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9C5B1"/>
                </a:solidFill>
              </a:rPr>
              <a:t>›</a:t>
            </a:r>
            <a:endParaRPr lang="en-US" sz="140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0D017AFC-1170-2A50-29D4-0E69BE4FB36A}"/>
              </a:ext>
            </a:extLst>
          </p:cNvPr>
          <p:cNvSpPr/>
          <p:nvPr/>
        </p:nvSpPr>
        <p:spPr>
          <a:xfrm>
            <a:off x="5362829" y="2714500"/>
            <a:ext cx="96012" cy="0"/>
          </a:xfrm>
          <a:prstGeom prst="line">
            <a:avLst/>
          </a:prstGeom>
          <a:noFill/>
          <a:ln w="19050">
            <a:solidFill>
              <a:srgbClr val="49C5B1"/>
            </a:solidFill>
            <a:prstDash val="sysDot"/>
          </a:ln>
        </p:spPr>
        <p:txBody>
          <a:bodyPr/>
          <a:lstStyle/>
          <a:p>
            <a:endParaRPr lang="ru-US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A3EC9109-966D-852C-573C-5C79DA007C66}"/>
              </a:ext>
            </a:extLst>
          </p:cNvPr>
          <p:cNvSpPr/>
          <p:nvPr/>
        </p:nvSpPr>
        <p:spPr>
          <a:xfrm>
            <a:off x="5397246" y="255511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9C5B1"/>
                </a:solidFill>
              </a:rPr>
              <a:t>›</a:t>
            </a:r>
            <a:endParaRPr lang="en-US" sz="140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9307064E-C495-70CA-E20C-96F3ADD90A38}"/>
              </a:ext>
            </a:extLst>
          </p:cNvPr>
          <p:cNvSpPr/>
          <p:nvPr/>
        </p:nvSpPr>
        <p:spPr>
          <a:xfrm>
            <a:off x="7095617" y="2787145"/>
            <a:ext cx="96012" cy="0"/>
          </a:xfrm>
          <a:prstGeom prst="line">
            <a:avLst/>
          </a:prstGeom>
          <a:noFill/>
          <a:ln w="19050">
            <a:solidFill>
              <a:srgbClr val="49C5B1"/>
            </a:solidFill>
            <a:prstDash val="sysDot"/>
          </a:ln>
        </p:spPr>
        <p:txBody>
          <a:bodyPr/>
          <a:lstStyle/>
          <a:p>
            <a:endParaRPr lang="ru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12DC820A-C391-CE9D-4018-5D3D713D41FC}"/>
              </a:ext>
            </a:extLst>
          </p:cNvPr>
          <p:cNvSpPr/>
          <p:nvPr/>
        </p:nvSpPr>
        <p:spPr>
          <a:xfrm>
            <a:off x="7130034" y="2627759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9C5B1"/>
                </a:solidFill>
              </a:rPr>
              <a:t>›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7B78AA-E25E-F26A-BD9C-9BBB73335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617" y="2319474"/>
            <a:ext cx="1916028" cy="191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36759D17-AE1A-BFEF-23FD-5238504C60DA}"/>
              </a:ext>
            </a:extLst>
          </p:cNvPr>
          <p:cNvSpPr/>
          <p:nvPr/>
        </p:nvSpPr>
        <p:spPr>
          <a:xfrm>
            <a:off x="4572000" y="433791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по магазинам клубов ФНЛ</a:t>
            </a:r>
            <a:endParaRPr lang="en-US" sz="15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1172D8-09D3-2845-02EA-79F1B8A88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67" y="2319474"/>
            <a:ext cx="1916028" cy="191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F8DD76D8-0A31-97F8-9B87-EA4DD61C0C0A}"/>
              </a:ext>
            </a:extLst>
          </p:cNvPr>
          <p:cNvSpPr/>
          <p:nvPr/>
        </p:nvSpPr>
        <p:spPr>
          <a:xfrm>
            <a:off x="445007" y="433791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</a:t>
            </a:r>
            <a:endParaRPr lang="en-US" sz="15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3E4AD28-BA24-FA95-0462-4B99B7456F01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ru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F3F4A2A-EFE4-9C9E-FA85-B3D162C8D242}"/>
              </a:ext>
            </a:extLst>
          </p:cNvPr>
          <p:cNvSpPr/>
          <p:nvPr/>
        </p:nvSpPr>
        <p:spPr>
          <a:xfrm>
            <a:off x="411480" y="137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КОНТАКТЫ</a:t>
            </a:r>
            <a:endParaRPr lang="en-US" sz="2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2A262A5-02EB-EAF3-474A-E0A1D553F5B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75"/>
          </a:solidFill>
          <a:ln w="12700">
            <a:solidFill>
              <a:srgbClr val="49C5B1"/>
            </a:solidFill>
            <a:prstDash val="solid"/>
          </a:ln>
        </p:spPr>
        <p:txBody>
          <a:bodyPr/>
          <a:lstStyle/>
          <a:p>
            <a:endParaRPr lang="ru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E6A4F63-8440-51F2-7262-4950CBC43538}"/>
              </a:ext>
            </a:extLst>
          </p:cNvPr>
          <p:cNvSpPr/>
          <p:nvPr/>
        </p:nvSpPr>
        <p:spPr>
          <a:xfrm>
            <a:off x="411480" y="907998"/>
            <a:ext cx="3048610" cy="1170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+79854325352</a:t>
            </a:r>
          </a:p>
          <a:p>
            <a:pPr marL="0" indent="0">
              <a:buNone/>
            </a:pPr>
            <a:endParaRPr lang="ru-RU" sz="2000" b="1" dirty="0">
              <a:solidFill>
                <a:srgbClr val="0D0D0D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demidov@fnl.pro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14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1193</Words>
  <Application>Microsoft Macintosh PowerPoint</Application>
  <PresentationFormat>Экран (16:9)</PresentationFormat>
  <Paragraphs>247</Paragraphs>
  <Slides>15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Маркетплейс ФНЛ</dc:title>
  <dc:subject>PptxGenJS Presentation</dc:subject>
  <dc:creator>PptxGenJS</dc:creator>
  <cp:lastModifiedBy>a9748</cp:lastModifiedBy>
  <cp:revision>10</cp:revision>
  <dcterms:created xsi:type="dcterms:W3CDTF">2026-03-17T18:22:33Z</dcterms:created>
  <dcterms:modified xsi:type="dcterms:W3CDTF">2026-03-25T08:09:51Z</dcterms:modified>
</cp:coreProperties>
</file>